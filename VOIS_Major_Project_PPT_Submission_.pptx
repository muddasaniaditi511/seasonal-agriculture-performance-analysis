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67" d="100"/>
          <a:sy n="67" d="100"/>
        </p:scale>
        <p:origin x="564"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6.png"/><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muddasaniaditi511/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4280807" cy="861497"/>
          </a:xfrm>
        </p:spPr>
        <p:txBody>
          <a:bodyPr vert="horz" lIns="91440" tIns="45720" rIns="91440" bIns="45720" rtlCol="0" anchor="t">
            <a:normAutofit fontScale="85000" lnSpcReduction="20000"/>
          </a:bodyPr>
          <a:lstStyle/>
          <a:p>
            <a:pPr algn="r"/>
            <a:r>
              <a:rPr lang="en-US" b="0" dirty="0">
                <a:solidFill>
                  <a:schemeClr val="tx1"/>
                </a:solidFill>
              </a:rPr>
              <a:t>[Student Name – </a:t>
            </a:r>
            <a:r>
              <a:rPr lang="en-US" b="0" dirty="0" err="1">
                <a:solidFill>
                  <a:schemeClr val="tx1"/>
                </a:solidFill>
              </a:rPr>
              <a:t>Muddasani</a:t>
            </a:r>
            <a:r>
              <a:rPr lang="en-US" b="0" dirty="0">
                <a:solidFill>
                  <a:schemeClr val="tx1"/>
                </a:solidFill>
              </a:rPr>
              <a:t> Aditi</a:t>
            </a:r>
            <a:endParaRPr lang="en-IN" b="0" dirty="0">
              <a:solidFill>
                <a:schemeClr val="tx1"/>
              </a:solidFill>
            </a:endParaRPr>
          </a:p>
          <a:p>
            <a:pPr algn="r"/>
            <a:r>
              <a:rPr lang="en-US" b="0" dirty="0">
                <a:solidFill>
                  <a:schemeClr val="tx1"/>
                </a:solidFill>
              </a:rPr>
              <a:t>College Name- Sridevi Women’s </a:t>
            </a:r>
            <a:r>
              <a:rPr lang="en-US" b="0" dirty="0" err="1">
                <a:solidFill>
                  <a:schemeClr val="tx1"/>
                </a:solidFill>
              </a:rPr>
              <a:t>Enginerring</a:t>
            </a:r>
            <a:r>
              <a:rPr lang="en-US" b="0" dirty="0">
                <a:solidFill>
                  <a:schemeClr val="tx1"/>
                </a:solidFill>
              </a:rPr>
              <a:t> College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lang="en-GB" sz="3200" dirty="0"/>
              <a:t>Project Title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176362" cy="923330"/>
          </a:xfrm>
          <a:prstGeom prst="rect">
            <a:avLst/>
          </a:prstGeom>
          <a:noFill/>
        </p:spPr>
        <p:txBody>
          <a:bodyPr wrap="square" rtlCol="0">
            <a:spAutoFit/>
          </a:bodyPr>
          <a:lstStyle/>
          <a:p>
            <a:r>
              <a:rPr lang="en-US" b="1" dirty="0"/>
              <a:t>AICTE STU ID : (STU6809bfaed21f31745469358)</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7500" lnSpcReduction="20000"/>
          </a:bodyPr>
          <a:lstStyle/>
          <a:p>
            <a:pPr>
              <a:lnSpc>
                <a:spcPct val="150000"/>
              </a:lnSpc>
            </a:pPr>
            <a:r>
              <a:rPr lang="en-US" sz="2800" dirty="0"/>
              <a:t>To analyze agricultural performance across seasons, crops, regions, environmental conditions, and farming practices, identify meaningful patterns and variations in yield, resource utilization, and profitability, and generate data-driven insights to support effective agricultural planning and decision-making.</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8" y="414687"/>
            <a:ext cx="5810568" cy="5690837"/>
          </a:xfrm>
        </p:spPr>
        <p:txBody>
          <a:bodyPr>
            <a:noAutofit/>
          </a:bodyPr>
          <a:lstStyle/>
          <a:p>
            <a:r>
              <a:rPr lang="en-GB" sz="2000" dirty="0"/>
              <a:t>Project Description</a:t>
            </a:r>
            <a:br>
              <a:rPr lang="en-GB" sz="2000" dirty="0"/>
            </a:br>
            <a:br>
              <a:rPr lang="en-GB" sz="2000" dirty="0"/>
            </a:br>
            <a:r>
              <a:rPr lang="en-US" sz="2400" b="0" dirty="0">
                <a:latin typeface="+mn-lt"/>
              </a:rPr>
              <a:t>Seasonal Agriculture Performance Analysis is a data analytics project that explores agricultural performance across seasons, crops, regions, environmental conditions, and farming practices. Using data preprocessing, statistical analysis, correlation analysis, and visualization techniques, the project identifies patterns in crop yield, production, resource efficiency, revenue, and profitability. The insights generated can support data-driven agricultural planning and informed decision-making.</a:t>
            </a:r>
            <a:br>
              <a:rPr lang="en-GB" sz="2400" b="0" dirty="0"/>
            </a:br>
            <a:endParaRPr lang="en-IN" sz="2400"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70000" lnSpcReduction="20000"/>
          </a:bodyPr>
          <a:lstStyle/>
          <a:p>
            <a:pPr algn="just">
              <a:lnSpc>
                <a:spcPct val="150000"/>
              </a:lnSpc>
            </a:pPr>
            <a:r>
              <a:rPr lang="en-US" sz="3600" dirty="0"/>
              <a:t>Farmers </a:t>
            </a:r>
          </a:p>
          <a:p>
            <a:pPr algn="just">
              <a:lnSpc>
                <a:spcPct val="150000"/>
              </a:lnSpc>
            </a:pPr>
            <a:r>
              <a:rPr lang="en-US" sz="3600" dirty="0"/>
              <a:t>Agricultural Planners </a:t>
            </a:r>
          </a:p>
          <a:p>
            <a:pPr algn="just">
              <a:lnSpc>
                <a:spcPct val="150000"/>
              </a:lnSpc>
            </a:pPr>
            <a:r>
              <a:rPr lang="en-US" sz="3600" dirty="0"/>
              <a:t>Government &amp; Agricultural Departments </a:t>
            </a:r>
          </a:p>
          <a:p>
            <a:pPr algn="just">
              <a:lnSpc>
                <a:spcPct val="150000"/>
              </a:lnSpc>
            </a:pPr>
            <a:r>
              <a:rPr lang="en-US" sz="3600" dirty="0"/>
              <a:t> Agricultural Researchers </a:t>
            </a:r>
          </a:p>
          <a:p>
            <a:pPr algn="just">
              <a:lnSpc>
                <a:spcPct val="150000"/>
              </a:lnSpc>
            </a:pPr>
            <a:r>
              <a:rPr lang="en-US" sz="3600" dirty="0"/>
              <a:t>Data Analysts </a:t>
            </a:r>
          </a:p>
          <a:p>
            <a:pPr algn="just">
              <a:lnSpc>
                <a:spcPct val="150000"/>
              </a:lnSpc>
            </a:pPr>
            <a:r>
              <a:rPr lang="en-US" sz="3600" dirty="0"/>
              <a:t>Resource Management Organizations</a:t>
            </a: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582149" y="3805709"/>
            <a:ext cx="9027702" cy="5243448"/>
          </a:xfrm>
        </p:spPr>
        <p:txBody>
          <a:bodyPr/>
          <a:lstStyle/>
          <a:p>
            <a:pPr lvl="1">
              <a:lnSpc>
                <a:spcPct val="150000"/>
              </a:lnSpc>
            </a:pPr>
            <a:r>
              <a:rPr lang="en-US" dirty="0"/>
              <a:t>“Python-based data analytics tools were used for data preprocessing, exploratory analysis, statistical testing, visualization, and interpretation of seasonal agricultural performance.”</a:t>
            </a:r>
          </a:p>
          <a:p>
            <a:pPr lvl="1">
              <a:lnSpc>
                <a:spcPct val="150000"/>
              </a:lnSpc>
            </a:pPr>
            <a:endParaRPr lang="en-US" dirty="0"/>
          </a:p>
          <a:p>
            <a:pPr marL="457200" lvl="1" indent="0">
              <a:lnSpc>
                <a:spcPct val="150000"/>
              </a:lnSpc>
              <a:buNone/>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8" name="Rectangle 4">
            <a:extLst>
              <a:ext uri="{FF2B5EF4-FFF2-40B4-BE49-F238E27FC236}">
                <a16:creationId xmlns:a16="http://schemas.microsoft.com/office/drawing/2014/main" id="{851AE664-BC3D-2EB4-C7C8-D66008E985F8}"/>
              </a:ext>
            </a:extLst>
          </p:cNvPr>
          <p:cNvSpPr>
            <a:spLocks noChangeArrowheads="1"/>
          </p:cNvSpPr>
          <p:nvPr/>
        </p:nvSpPr>
        <p:spPr bwMode="auto">
          <a:xfrm>
            <a:off x="807599" y="1309217"/>
            <a:ext cx="9183924"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 Python</a:t>
            </a:r>
            <a:r>
              <a:rPr kumimoji="0" lang="en-US" altLang="en-US" sz="2000" b="0" i="0" u="none" strike="noStrike" cap="none" normalizeH="0" baseline="0" dirty="0">
                <a:ln>
                  <a:noFill/>
                </a:ln>
                <a:solidFill>
                  <a:schemeClr val="tx1"/>
                </a:solidFill>
                <a:effectLst/>
                <a:latin typeface="+mj-lt"/>
              </a:rPr>
              <a:t> – Core programming language for data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 Google </a:t>
            </a:r>
            <a:r>
              <a:rPr kumimoji="0" lang="en-US" altLang="en-US" sz="2000" b="1" i="0" u="none" strike="noStrike" cap="none" normalizeH="0" baseline="0" dirty="0" err="1">
                <a:ln>
                  <a:noFill/>
                </a:ln>
                <a:solidFill>
                  <a:schemeClr val="tx1"/>
                </a:solidFill>
                <a:effectLst/>
                <a:latin typeface="+mj-lt"/>
              </a:rPr>
              <a:t>Colab</a:t>
            </a:r>
            <a:r>
              <a:rPr kumimoji="0" lang="en-US" altLang="en-US" sz="2000" b="1" i="0" u="none" strike="noStrike" cap="none" normalizeH="0" baseline="0" dirty="0">
                <a:ln>
                  <a:noFill/>
                </a:ln>
                <a:solidFill>
                  <a:schemeClr val="tx1"/>
                </a:solidFill>
                <a:effectLst/>
                <a:latin typeface="+mj-lt"/>
              </a:rPr>
              <a:t> / </a:t>
            </a:r>
            <a:r>
              <a:rPr kumimoji="0" lang="en-US" altLang="en-US" sz="2000" b="1" i="0" u="none" strike="noStrike" cap="none" normalizeH="0" baseline="0" dirty="0" err="1">
                <a:ln>
                  <a:noFill/>
                </a:ln>
                <a:solidFill>
                  <a:schemeClr val="tx1"/>
                </a:solidFill>
                <a:effectLst/>
                <a:latin typeface="+mj-lt"/>
              </a:rPr>
              <a:t>Jupyter</a:t>
            </a:r>
            <a:r>
              <a:rPr kumimoji="0" lang="en-US" altLang="en-US" sz="2000" b="1" i="0" u="none" strike="noStrike" cap="none" normalizeH="0" baseline="0" dirty="0">
                <a:ln>
                  <a:noFill/>
                </a:ln>
                <a:solidFill>
                  <a:schemeClr val="tx1"/>
                </a:solidFill>
                <a:effectLst/>
                <a:latin typeface="+mj-lt"/>
              </a:rPr>
              <a:t> Notebook</a:t>
            </a:r>
            <a:r>
              <a:rPr kumimoji="0" lang="en-US" altLang="en-US" sz="2000" b="0" i="0" u="none" strike="noStrike" cap="none" normalizeH="0" baseline="0" dirty="0">
                <a:ln>
                  <a:noFill/>
                </a:ln>
                <a:solidFill>
                  <a:schemeClr val="tx1"/>
                </a:solidFill>
                <a:effectLst/>
                <a:latin typeface="+mj-lt"/>
              </a:rPr>
              <a:t> – Development and analysis environment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 Pandas</a:t>
            </a:r>
            <a:r>
              <a:rPr kumimoji="0" lang="en-US" altLang="en-US" sz="2000" b="0" i="0" u="none" strike="noStrike" cap="none" normalizeH="0" baseline="0" dirty="0">
                <a:ln>
                  <a:noFill/>
                </a:ln>
                <a:solidFill>
                  <a:schemeClr val="tx1"/>
                </a:solidFill>
                <a:effectLst/>
                <a:latin typeface="+mj-lt"/>
              </a:rPr>
              <a:t> – Data loading, cleaning, transformation, and aggregation </a:t>
            </a:r>
          </a:p>
          <a:p>
            <a:pPr lvl="0" defTabSz="914400" eaLnBrk="0" fontAlgn="base" hangingPunct="0">
              <a:spcBef>
                <a:spcPct val="0"/>
              </a:spcBef>
              <a:spcAft>
                <a:spcPct val="0"/>
              </a:spcAft>
              <a:buFontTx/>
              <a:buChar char="•"/>
            </a:pPr>
            <a:r>
              <a:rPr kumimoji="0" lang="en-US" altLang="en-US" sz="2000" b="1" i="0" u="none" strike="noStrike" cap="none" normalizeH="0" baseline="0" dirty="0">
                <a:ln>
                  <a:noFill/>
                </a:ln>
                <a:solidFill>
                  <a:schemeClr val="tx1"/>
                </a:solidFill>
                <a:effectLst/>
                <a:latin typeface="+mj-lt"/>
              </a:rPr>
              <a:t> NumPy- </a:t>
            </a:r>
            <a:r>
              <a:rPr kumimoji="0" lang="en-US" altLang="en-US" sz="2000" i="0" u="none" strike="noStrike" cap="none" normalizeH="0" baseline="0" dirty="0">
                <a:ln>
                  <a:noFill/>
                </a:ln>
                <a:solidFill>
                  <a:schemeClr val="tx1"/>
                </a:solidFill>
                <a:effectLst/>
                <a:latin typeface="+mj-lt"/>
              </a:rPr>
              <a:t>Numerical and statistical computations</a:t>
            </a:r>
          </a:p>
          <a:p>
            <a:pPr lvl="0" defTabSz="914400" eaLnBrk="0" fontAlgn="base" hangingPunct="0">
              <a:spcBef>
                <a:spcPct val="0"/>
              </a:spcBef>
              <a:spcAft>
                <a:spcPct val="0"/>
              </a:spcAft>
              <a:buFontTx/>
              <a:buChar char="•"/>
            </a:pPr>
            <a:r>
              <a:rPr lang="en-US" altLang="en-US" sz="2000" b="1" dirty="0" err="1">
                <a:latin typeface="+mj-lt"/>
              </a:rPr>
              <a:t>Matplotlib</a:t>
            </a:r>
            <a:r>
              <a:rPr kumimoji="0" lang="en-US" altLang="en-US" sz="2000" b="1" i="0" u="none" strike="noStrike" cap="none" normalizeH="0" baseline="0" dirty="0" err="1">
                <a:ln>
                  <a:noFill/>
                </a:ln>
                <a:solidFill>
                  <a:schemeClr val="tx1"/>
                </a:solidFill>
                <a:effectLst/>
                <a:latin typeface="+mj-lt"/>
              </a:rPr>
              <a:t>y</a:t>
            </a:r>
            <a:r>
              <a:rPr kumimoji="0" lang="en-US" altLang="en-US" sz="2000" b="0" i="0" u="none" strike="noStrike" cap="none" normalizeH="0" baseline="0" dirty="0">
                <a:ln>
                  <a:noFill/>
                </a:ln>
                <a:solidFill>
                  <a:schemeClr val="tx1"/>
                </a:solidFill>
                <a:effectLst/>
                <a:latin typeface="+mj-lt"/>
              </a:rPr>
              <a:t> – Data visualization and charts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SciPy</a:t>
            </a:r>
            <a:r>
              <a:rPr kumimoji="0" lang="en-US" altLang="en-US" sz="2000" b="0" i="0" u="none" strike="noStrike" cap="none" normalizeH="0" baseline="0" dirty="0">
                <a:ln>
                  <a:noFill/>
                </a:ln>
                <a:solidFill>
                  <a:schemeClr val="tx1"/>
                </a:solidFill>
                <a:effectLst/>
                <a:latin typeface="+mj-lt"/>
              </a:rPr>
              <a:t> – Statistical analysis, including ANOVA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j-lt"/>
              </a:rPr>
              <a:t>CSV Dataset</a:t>
            </a:r>
            <a:r>
              <a:rPr kumimoji="0" lang="en-US" altLang="en-US" sz="2000" b="0" i="0" u="none" strike="noStrike" cap="none" normalizeH="0" baseline="0" dirty="0">
                <a:ln>
                  <a:noFill/>
                </a:ln>
                <a:solidFill>
                  <a:schemeClr val="tx1"/>
                </a:solidFill>
                <a:effectLst/>
                <a:latin typeface="+mj-lt"/>
              </a:rPr>
              <a:t> – Source format for agricultural data </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4BF46871-6C17-55E1-95EE-69997B695A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2302" y="2065535"/>
            <a:ext cx="6809662" cy="423763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IN" dirty="0"/>
          </a:p>
        </p:txBody>
      </p:sp>
      <p:pic>
        <p:nvPicPr>
          <p:cNvPr id="11" name="Picture 10">
            <a:extLst>
              <a:ext uri="{FF2B5EF4-FFF2-40B4-BE49-F238E27FC236}">
                <a16:creationId xmlns:a16="http://schemas.microsoft.com/office/drawing/2014/main" id="{133A92EC-07FD-058D-A006-51538E51A3AC}"/>
              </a:ext>
            </a:extLst>
          </p:cNvPr>
          <p:cNvPicPr>
            <a:picLocks noChangeAspect="1"/>
          </p:cNvPicPr>
          <p:nvPr/>
        </p:nvPicPr>
        <p:blipFill>
          <a:blip r:embed="rId4"/>
          <a:srcRect l="9218" t="38334" r="36932" b="18596"/>
          <a:stretch>
            <a:fillRect/>
          </a:stretch>
        </p:blipFill>
        <p:spPr>
          <a:xfrm>
            <a:off x="438151" y="1201586"/>
            <a:ext cx="4545075" cy="2227414"/>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CCF6B522-D459-05DE-AB49-C59A8CC8A27E}"/>
              </a:ext>
            </a:extLst>
          </p:cNvPr>
          <p:cNvPicPr>
            <a:picLocks noChangeAspect="1"/>
          </p:cNvPicPr>
          <p:nvPr/>
        </p:nvPicPr>
        <p:blipFill>
          <a:blip r:embed="rId3"/>
          <a:srcRect l="9550" t="31389" r="51075" b="24444"/>
          <a:stretch>
            <a:fillRect/>
          </a:stretch>
        </p:blipFill>
        <p:spPr>
          <a:xfrm>
            <a:off x="544433" y="1275371"/>
            <a:ext cx="4494292" cy="3028950"/>
          </a:xfrm>
          <a:prstGeom prst="rect">
            <a:avLst/>
          </a:prstGeom>
        </p:spPr>
      </p:pic>
      <p:pic>
        <p:nvPicPr>
          <p:cNvPr id="3076" name="Picture 4">
            <a:extLst>
              <a:ext uri="{FF2B5EF4-FFF2-40B4-BE49-F238E27FC236}">
                <a16:creationId xmlns:a16="http://schemas.microsoft.com/office/drawing/2014/main" id="{3527DE08-B8B0-49B7-899E-FB9345C556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2511952"/>
            <a:ext cx="6586219" cy="35847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8524DDB5-192E-E346-FF2E-FC0E8F8C517C}"/>
              </a:ext>
            </a:extLst>
          </p:cNvPr>
          <p:cNvPicPr>
            <a:picLocks noChangeAspect="1"/>
          </p:cNvPicPr>
          <p:nvPr/>
        </p:nvPicPr>
        <p:blipFill>
          <a:blip r:embed="rId3"/>
          <a:srcRect l="7970" t="45556" r="55234" b="18597"/>
          <a:stretch>
            <a:fillRect/>
          </a:stretch>
        </p:blipFill>
        <p:spPr>
          <a:xfrm>
            <a:off x="1318894" y="1093036"/>
            <a:ext cx="4405631" cy="2458429"/>
          </a:xfrm>
          <a:prstGeom prst="rect">
            <a:avLst/>
          </a:prstGeom>
        </p:spPr>
      </p:pic>
      <p:pic>
        <p:nvPicPr>
          <p:cNvPr id="4098" name="Picture 2">
            <a:extLst>
              <a:ext uri="{FF2B5EF4-FFF2-40B4-BE49-F238E27FC236}">
                <a16:creationId xmlns:a16="http://schemas.microsoft.com/office/drawing/2014/main" id="{08039FF5-957E-866D-D01B-6CDD11097D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29871" y="102238"/>
            <a:ext cx="5209061" cy="317300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8DCBC0F2-EF6E-425E-DB10-D2FD73C1E119}"/>
              </a:ext>
            </a:extLst>
          </p:cNvPr>
          <p:cNvPicPr>
            <a:picLocks noChangeAspect="1"/>
          </p:cNvPicPr>
          <p:nvPr/>
        </p:nvPicPr>
        <p:blipFill>
          <a:blip r:embed="rId5"/>
          <a:srcRect l="8672" t="35139" r="58281" b="22917"/>
          <a:stretch>
            <a:fillRect/>
          </a:stretch>
        </p:blipFill>
        <p:spPr>
          <a:xfrm>
            <a:off x="675957" y="3788408"/>
            <a:ext cx="4029076" cy="2876551"/>
          </a:xfrm>
          <a:prstGeom prst="rect">
            <a:avLst/>
          </a:prstGeom>
        </p:spPr>
      </p:pic>
      <p:pic>
        <p:nvPicPr>
          <p:cNvPr id="4102" name="Picture 6">
            <a:extLst>
              <a:ext uri="{FF2B5EF4-FFF2-40B4-BE49-F238E27FC236}">
                <a16:creationId xmlns:a16="http://schemas.microsoft.com/office/drawing/2014/main" id="{B037F0D6-4F33-AE51-B903-5B6F57674EC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2065" y="3631897"/>
            <a:ext cx="5107984" cy="31895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AC39C3DB-A2E5-8CD5-3767-57FD4F1D656A}"/>
              </a:ext>
            </a:extLst>
          </p:cNvPr>
          <p:cNvPicPr>
            <a:picLocks noChangeAspect="1"/>
          </p:cNvPicPr>
          <p:nvPr/>
        </p:nvPicPr>
        <p:blipFill>
          <a:blip r:embed="rId3"/>
          <a:srcRect l="8907" t="35416" r="51562" b="14585"/>
          <a:stretch>
            <a:fillRect/>
          </a:stretch>
        </p:blipFill>
        <p:spPr>
          <a:xfrm>
            <a:off x="590550" y="1201587"/>
            <a:ext cx="4219575" cy="3002070"/>
          </a:xfrm>
          <a:prstGeom prst="rect">
            <a:avLst/>
          </a:prstGeom>
        </p:spPr>
      </p:pic>
      <p:pic>
        <p:nvPicPr>
          <p:cNvPr id="5124" name="Picture 4">
            <a:extLst>
              <a:ext uri="{FF2B5EF4-FFF2-40B4-BE49-F238E27FC236}">
                <a16:creationId xmlns:a16="http://schemas.microsoft.com/office/drawing/2014/main" id="{1B2B8617-7A2D-2852-E3D5-38F00153CE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9059" y="2976744"/>
            <a:ext cx="5939016" cy="3150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7DA931B1-F857-4F76-BE33-70CA43FE4909}"/>
              </a:ext>
            </a:extLst>
          </p:cNvPr>
          <p:cNvPicPr>
            <a:picLocks noChangeAspect="1"/>
          </p:cNvPicPr>
          <p:nvPr/>
        </p:nvPicPr>
        <p:blipFill>
          <a:blip r:embed="rId3"/>
          <a:srcRect l="8985" t="31070" r="50000" b="12110"/>
          <a:stretch>
            <a:fillRect/>
          </a:stretch>
        </p:blipFill>
        <p:spPr>
          <a:xfrm>
            <a:off x="675957" y="1201586"/>
            <a:ext cx="5000626" cy="3867150"/>
          </a:xfrm>
          <a:prstGeom prst="rect">
            <a:avLst/>
          </a:prstGeom>
        </p:spPr>
      </p:pic>
      <p:pic>
        <p:nvPicPr>
          <p:cNvPr id="6148" name="Picture 4">
            <a:extLst>
              <a:ext uri="{FF2B5EF4-FFF2-40B4-BE49-F238E27FC236}">
                <a16:creationId xmlns:a16="http://schemas.microsoft.com/office/drawing/2014/main" id="{EC19FEB7-017B-F8A9-233D-E3F6DA63C1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97285" y="1110239"/>
            <a:ext cx="5630863" cy="44723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CF04A971-856F-9528-E863-B5DD8A22C290}"/>
              </a:ext>
            </a:extLst>
          </p:cNvPr>
          <p:cNvSpPr txBox="1"/>
          <p:nvPr/>
        </p:nvSpPr>
        <p:spPr>
          <a:xfrm>
            <a:off x="866775" y="1602740"/>
            <a:ext cx="8062912" cy="2308324"/>
          </a:xfrm>
          <a:prstGeom prst="rect">
            <a:avLst/>
          </a:prstGeom>
          <a:noFill/>
        </p:spPr>
        <p:txBody>
          <a:bodyPr wrap="square">
            <a:spAutoFit/>
          </a:bodyPr>
          <a:lstStyle/>
          <a:p>
            <a:r>
              <a:rPr lang="en-US" dirty="0"/>
              <a:t>• </a:t>
            </a:r>
            <a:r>
              <a:rPr lang="en-US" sz="2400" dirty="0"/>
              <a:t>Predictive yield analysis </a:t>
            </a:r>
          </a:p>
          <a:p>
            <a:r>
              <a:rPr lang="en-US" sz="2400" dirty="0"/>
              <a:t>• Smart crop recommendation </a:t>
            </a:r>
          </a:p>
          <a:p>
            <a:r>
              <a:rPr lang="en-US" sz="2400" dirty="0"/>
              <a:t>• Real-time environmental monitoring </a:t>
            </a:r>
          </a:p>
          <a:p>
            <a:r>
              <a:rPr lang="en-US" sz="2400" dirty="0"/>
              <a:t>• Resource optimization </a:t>
            </a:r>
          </a:p>
          <a:p>
            <a:r>
              <a:rPr lang="en-US" sz="2400" dirty="0"/>
              <a:t>• Interactive agricultural dashboard </a:t>
            </a:r>
          </a:p>
          <a:p>
            <a:r>
              <a:rPr lang="en-US" sz="2400" dirty="0"/>
              <a:t>• Early risk detection</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BEAAE4C5-FFFF-DDEA-6C6D-AE6D990B3895}"/>
              </a:ext>
            </a:extLst>
          </p:cNvPr>
          <p:cNvSpPr txBox="1"/>
          <p:nvPr/>
        </p:nvSpPr>
        <p:spPr>
          <a:xfrm>
            <a:off x="675957" y="1368903"/>
            <a:ext cx="5581650" cy="1477328"/>
          </a:xfrm>
          <a:prstGeom prst="rect">
            <a:avLst/>
          </a:prstGeom>
          <a:noFill/>
        </p:spPr>
        <p:txBody>
          <a:bodyPr wrap="square" rtlCol="0">
            <a:spAutoFit/>
          </a:bodyPr>
          <a:lstStyle/>
          <a:p>
            <a:r>
              <a:rPr lang="en-US" sz="2400" dirty="0">
                <a:hlinkClick r:id="rId3"/>
              </a:rPr>
              <a:t>https://github.com/muddasaniaditi511/Seasonal-Agriculture-Performance-Analysis</a:t>
            </a:r>
            <a:endParaRPr lang="en-US" sz="2400" dirty="0"/>
          </a:p>
          <a:p>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548BE79A-80D5-E57D-E4B3-8D76A20C3EB0}"/>
              </a:ext>
            </a:extLst>
          </p:cNvPr>
          <p:cNvPicPr>
            <a:picLocks noChangeAspect="1"/>
          </p:cNvPicPr>
          <p:nvPr/>
        </p:nvPicPr>
        <p:blipFill>
          <a:blip r:embed="rId3"/>
          <a:srcRect l="18595" t="11250" r="16327" b="5629"/>
          <a:stretch>
            <a:fillRect/>
          </a:stretch>
        </p:blipFill>
        <p:spPr>
          <a:xfrm>
            <a:off x="2567043" y="1529504"/>
            <a:ext cx="6900862" cy="495790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97560" y="2619375"/>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615</TotalTime>
  <Words>309</Words>
  <Application>Microsoft Office PowerPoint</Application>
  <PresentationFormat>Widescreen</PresentationFormat>
  <Paragraphs>42</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  Seasonal Agriculture Performance Analysis is a data analytics project that explores agricultural performance across seasons, crops, regions, environmental conditions, and farming practices. Using data preprocessing, statistical analysis, correlation analysis, and visualization techniques, the project identifies patterns in crop yield, production, resource efficiency, revenue, and profitability. The insights generated can support data-driven agricultural planning and informed decision-making.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Aditi SWEC 2023</cp:lastModifiedBy>
  <cp:revision>99</cp:revision>
  <dcterms:created xsi:type="dcterms:W3CDTF">2021-07-11T13:13:15Z</dcterms:created>
  <dcterms:modified xsi:type="dcterms:W3CDTF">2026-09-15T07:04:39Z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